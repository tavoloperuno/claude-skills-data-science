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29184"/>
            <a:ext cx="10113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184061"/>
                </a:solidFill>
                <a:latin typeface="Calibri"/>
              </a:rPr>
              <a:t>Q3 results exceeded forecast across all four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2011680"/>
          </a:xfrm>
          <a:prstGeom prst="rect">
            <a:avLst/>
          </a:prstGeom>
          <a:solidFill>
            <a:srgbClr val="18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56091"/>
                </a:solidFill>
                <a:latin typeface="Calibri"/>
              </a:rPr>
              <a:t>+17%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86868"/>
                </a:solidFill>
                <a:latin typeface="Calibri"/>
              </a:rPr>
              <a:t>above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86868"/>
                </a:solidFill>
                <a:latin typeface="Calibri"/>
              </a:rPr>
              <a:t>North and East regions drove the majority of the upside, each exceeding targets by 20%+.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" cy="2011680"/>
          </a:xfrm>
          <a:prstGeom prst="rect">
            <a:avLst/>
          </a:prstGeom>
          <a:solidFill>
            <a:srgbClr val="18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56091"/>
                </a:solidFill>
                <a:latin typeface="Calibri"/>
              </a:rPr>
              <a:t>$4.2M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86868"/>
                </a:solidFill>
                <a:latin typeface="Calibri"/>
              </a:rPr>
              <a:t>incremental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86868"/>
                </a:solidFill>
                <a:latin typeface="Calibri"/>
              </a:rPr>
              <a:t>New product line contributed $1.8M, with the remainder from expansion of existing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54864" cy="2011680"/>
          </a:xfrm>
          <a:prstGeom prst="rect">
            <a:avLst/>
          </a:prstGeom>
          <a:solidFill>
            <a:srgbClr val="18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56091"/>
                </a:solidFill>
                <a:latin typeface="Calibri"/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86868"/>
                </a:solidFill>
                <a:latin typeface="Calibri"/>
              </a:rPr>
              <a:t>customer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86868"/>
                </a:solidFill>
                <a:latin typeface="Calibri"/>
              </a:rPr>
              <a:t>Retention improved 6 points over Q2, driven by the onboarding redesign launched in July.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54864" cy="2011680"/>
          </a:xfrm>
          <a:prstGeom prst="rect">
            <a:avLst/>
          </a:prstGeom>
          <a:solidFill>
            <a:srgbClr val="18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56091"/>
                </a:solidFill>
                <a:latin typeface="Calibri"/>
              </a:rPr>
              <a:t>3.2X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86868"/>
                </a:solidFill>
                <a:latin typeface="Calibri"/>
              </a:rPr>
              <a:t>pipeline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86868"/>
                </a:solidFill>
                <a:latin typeface="Calibri"/>
              </a:rPr>
              <a:t>Strong pipeline heading into Q4, with 60% of deals in late stage.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852159"/>
            <a:ext cx="10607040" cy="457200"/>
          </a:xfrm>
          <a:prstGeom prst="rect">
            <a:avLst/>
          </a:prstGeom>
          <a:solidFill>
            <a:srgbClr val="18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Recommendation: Expand the new product line to Central and South in Q4 to capture remaining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